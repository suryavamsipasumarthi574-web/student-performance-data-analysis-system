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71" r:id="rId11"/>
    <p:sldId id="281" r:id="rId12"/>
    <p:sldId id="283" r:id="rId13"/>
    <p:sldId id="282" r:id="rId14"/>
    <p:sldId id="284" r:id="rId15"/>
    <p:sldId id="268" r:id="rId16"/>
    <p:sldId id="269" r:id="rId1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97D9-E11D-62D1-5059-2D3412FE5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E4FCF-E6B9-07CE-CA24-1DD63419E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330D3-0742-258E-A835-100669D2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B6694-20A5-0753-EA65-A54028DD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A8438-C86B-7548-0B12-53D47168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62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8677-BB43-37D9-0E2B-D84A81E0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DDAFC-D2C6-5DE2-7F48-0865E31B5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1CE3A-59E3-8D21-5A4A-06962CD2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A6163-98D0-2669-EF2B-1844D007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61F0F-5A40-175A-6D38-3143B890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82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37D9-BC94-E6DC-28CD-9D08CFEA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ECDD6-000A-0412-27EC-887E08FF5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82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82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3CB5-5EDB-B344-BCB4-55FA3F5C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889E8-B024-CEBB-63EB-A14D1226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4F5BC-9767-3628-2EEF-7CDAD00F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2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F718-69E8-2258-6E65-C00629F8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08D55-A8A3-02D3-3FBC-D6B243560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513A5-BE7C-4C99-701C-D951D66D6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E6E08-FC52-2CBE-2662-E61A0B99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C6CDD-EF2F-57DD-596E-659235D4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E9098-FC38-D63B-204C-BF77A33A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24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CE2C-F371-5C05-F79C-5D6E3AB14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6B97A-DE07-386B-B05D-94A982F98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5C9C5-AD45-AC09-99B1-65C85671B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1F72C-FC67-B7B7-D2A6-57940179A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42DB65-6161-DA58-529B-3D7508913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7B5EE-0383-30F2-FA7D-CF5C309C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A8F6E-9580-63F0-3EE7-B7F9B0DF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FCF7E-8760-94D7-A14F-C4719B56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20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C636-21A6-6B02-0800-249B8E8A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1883D-234D-A5E6-4B5B-930F657E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E17D7-7E04-DC78-59DD-E40A1A29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2D5AB-BEF3-32FC-A987-EEB7E011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3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63318-E3B8-A753-AC81-6AC08E43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99BFE-06E1-1560-93EE-242ADC35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7C6E5-5999-26E1-E7BD-E40C67D0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78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19526-46B8-E5C8-0764-3494A8918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F46B-F98A-E3F5-57AB-D804B9281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398DA-5EFD-C9C1-9F9F-B2525F4FD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F3529-2803-0C01-71B7-CBF5343D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7A0D6-58A8-A066-59FA-9FA4DA61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64517-B2FA-B8AD-B5E2-C3A2105A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276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2BB7-497E-8897-231C-BE6F2369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77052-4A20-3AB7-681C-339C1697D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E1319-6BDE-11C7-937D-6FC2EF906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5ACBF-7AD3-D144-26AC-0F5BFAE4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736A9-72DA-F42A-4BB7-0AAA796B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D222E-32EB-E803-D3AB-6EFEC03C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95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B188-E226-FE7C-98AB-24D32B3F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0B937-0DDA-23A0-DCA7-495765831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727C-40E7-CE7C-7F59-35B579499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02E9-A7D7-0EFD-7FC2-498EB1EAE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CD03-55A6-B065-FCA7-64C7381C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9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DDB78-337F-0CF9-5D91-E5798C253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B83F7-47F4-8478-61CF-ED3228AC1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8CF1-3787-08A4-3842-F229D8033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EB51-B705-6146-BB8B-2B750601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23E59-8AB9-AA6D-C49D-87AE7FFD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160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875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1B9D8-E2ED-CBEF-4327-A9CA5406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697F0-CDFA-62BE-F4C0-4137B0F0D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5DE2-99C1-2E3D-8C73-EC5F91A73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7BB1D-B1C0-DF6D-EF59-69AF7F35B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80E34-EC60-E0CE-8537-696E7410A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94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mahmoudelhemaly/students-grading-dataset?utm_source=chatgpt.co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822393"/>
            <a:ext cx="7467599" cy="152041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Team-11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653494" y="2514600"/>
            <a:ext cx="8751412" cy="3584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indent="0" algn="ctr">
              <a:spcBef>
                <a:spcPts val="130"/>
              </a:spcBef>
              <a:buNone/>
            </a:pPr>
            <a:r>
              <a:rPr lang="en-IN" sz="2000" dirty="0">
                <a:highlight>
                  <a:srgbClr val="00FFFF"/>
                </a:highlight>
              </a:rPr>
              <a:t> </a:t>
            </a:r>
            <a:r>
              <a:rPr lang="en-IN" dirty="0">
                <a:highlight>
                  <a:srgbClr val="00FFFF"/>
                </a:highlight>
              </a:rPr>
              <a:t>Student Performance Data Analysis System</a:t>
            </a:r>
            <a:endParaRPr lang="en-IN" dirty="0">
              <a:solidFill>
                <a:srgbClr val="FF0000"/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P.Surya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Vamsi-25B11AI905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 Charan Teja-25B11AI195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M.Vishnu-25B11AI650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 Raju-25B11AIB34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220" y="1546185"/>
            <a:ext cx="5980780" cy="5769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Abstract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Introduction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Requirements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Methodology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Expected Outputs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Project Workflow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Conclusion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IN" sz="2800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CEEB63-509F-9FA6-B95C-B62CCA740379}"/>
              </a:ext>
            </a:extLst>
          </p:cNvPr>
          <p:cNvSpPr txBox="1"/>
          <p:nvPr/>
        </p:nvSpPr>
        <p:spPr>
          <a:xfrm>
            <a:off x="1295400" y="1244658"/>
            <a:ext cx="7696199" cy="500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Student Performance Data Analysis System is a data analytics project developed using </a:t>
            </a:r>
            <a:r>
              <a:rPr lang="en-IN" b="1" dirty="0"/>
              <a:t>Python, Pandas, NumPy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</a:t>
            </a:r>
            <a:r>
              <a:rPr lang="en-IN" dirty="0" err="1"/>
              <a:t>analyze</a:t>
            </a:r>
            <a:r>
              <a:rPr lang="en-IN" dirty="0"/>
              <a:t> student academic data to understand performance.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It performs </a:t>
            </a:r>
            <a:r>
              <a:rPr lang="en-IN" b="1" dirty="0"/>
              <a:t>data cleaning, preprocessing, sorting, filtering and analysis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Calculated columns such as </a:t>
            </a:r>
            <a:r>
              <a:rPr lang="en-IN" b="1" dirty="0"/>
              <a:t>Average and Grade</a:t>
            </a:r>
            <a:r>
              <a:rPr lang="en-IN" dirty="0"/>
              <a:t> are generated.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Visualizations help identify </a:t>
            </a:r>
            <a:r>
              <a:rPr lang="en-IN" b="1" dirty="0"/>
              <a:t>performance trends and grade distribution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helps generate meaningful student performance insights.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2E50F5-1405-CC26-34FB-D60FB8B5E894}"/>
              </a:ext>
            </a:extLst>
          </p:cNvPr>
          <p:cNvSpPr txBox="1"/>
          <p:nvPr/>
        </p:nvSpPr>
        <p:spPr>
          <a:xfrm>
            <a:off x="822788" y="1437175"/>
            <a:ext cx="8458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Educational institutions generate large amounts of student performance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Student data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Student ID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Name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Gender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Department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Subject 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Total 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Average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Grade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Manual analysis is: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Time-consuming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Error-prone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Difficult for large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Python helps automate </a:t>
            </a:r>
            <a:r>
              <a:rPr lang="en-IN" b="1" dirty="0"/>
              <a:t>data cleaning, analysis and visualization</a:t>
            </a:r>
            <a:r>
              <a:rPr lang="en-IN" dirty="0"/>
              <a:t>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C96CCA-1272-2A73-EE20-3C4542FDE9FC}"/>
              </a:ext>
            </a:extLst>
          </p:cNvPr>
          <p:cNvSpPr txBox="1"/>
          <p:nvPr/>
        </p:nvSpPr>
        <p:spPr>
          <a:xfrm>
            <a:off x="1295400" y="961084"/>
            <a:ext cx="6475504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Student records are commonly stored in: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Excel files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CSV files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 analysis is often performed manually.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Marks and averages are calculated manually.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Comparing students becomes difficult for large datasets.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Identifying toppers and performance trends takes time.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5B758792-840A-895D-A2CD-A09955CC1720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290B6E4-4C6A-D92F-FFFC-B388B78435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7F4EE37-279F-308C-F87F-6E638DA193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ED23BED-35EB-2EF2-62D6-17D1E3CB00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06FBF5-D468-2472-2E09-3659EB0BF5E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B8F9142-A139-B560-1878-4235B5D99241}"/>
              </a:ext>
            </a:extLst>
          </p:cNvPr>
          <p:cNvSpPr txBox="1"/>
          <p:nvPr/>
        </p:nvSpPr>
        <p:spPr>
          <a:xfrm>
            <a:off x="3215726" y="299442"/>
            <a:ext cx="502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Limitations of Existing System:</a:t>
            </a:r>
          </a:p>
          <a:p>
            <a:endParaRPr lang="en-IN" sz="24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5E56F-162E-DBC7-DEDE-3D2F822AC923}"/>
              </a:ext>
            </a:extLst>
          </p:cNvPr>
          <p:cNvSpPr txBox="1"/>
          <p:nvPr/>
        </p:nvSpPr>
        <p:spPr>
          <a:xfrm>
            <a:off x="1453752" y="1752600"/>
            <a:ext cx="7766448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Manual data processing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Time-consuming calculations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Duplicate or missing records may affect analysis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Difficult to compare large numbers of students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No automatic performance visualization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Difficult to identify performance trends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Limited reporting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22007" y="124299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12D0BBA-1AFB-212B-3F9A-A6368F20C3E4}"/>
              </a:ext>
            </a:extLst>
          </p:cNvPr>
          <p:cNvSpPr txBox="1"/>
          <p:nvPr/>
        </p:nvSpPr>
        <p:spPr>
          <a:xfrm>
            <a:off x="3659096" y="214669"/>
            <a:ext cx="5103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Proposed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18F8D6-0175-A7BC-5F4E-8F992C4A7144}"/>
              </a:ext>
            </a:extLst>
          </p:cNvPr>
          <p:cNvSpPr txBox="1"/>
          <p:nvPr/>
        </p:nvSpPr>
        <p:spPr>
          <a:xfrm>
            <a:off x="990600" y="1524000"/>
            <a:ext cx="8610600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Automated student data analysis using Python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Dataset loading and management using Pandas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cleaning and preprocessing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Sorting and filtering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Average calculation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Grade generation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 trend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visualization using Matplotlib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CA7EE8-74F6-AF36-B9E5-7578E1237183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CC38E1-9856-A2E3-4EB5-E8E13767AF6F}"/>
              </a:ext>
            </a:extLst>
          </p:cNvPr>
          <p:cNvSpPr txBox="1"/>
          <p:nvPr/>
        </p:nvSpPr>
        <p:spPr>
          <a:xfrm>
            <a:off x="767080" y="1138570"/>
            <a:ext cx="8534400" cy="270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BA5A82D-9610-8022-B62F-1E6008A87446}"/>
              </a:ext>
            </a:extLst>
          </p:cNvPr>
          <p:cNvSpPr txBox="1"/>
          <p:nvPr/>
        </p:nvSpPr>
        <p:spPr>
          <a:xfrm>
            <a:off x="3252863" y="134344"/>
            <a:ext cx="56388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7C5394-7329-9BDB-4865-D3D8BBF7C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255488"/>
              </p:ext>
            </p:extLst>
          </p:nvPr>
        </p:nvGraphicFramePr>
        <p:xfrm>
          <a:off x="1676400" y="1651000"/>
          <a:ext cx="6705600" cy="406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3286897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33959562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7660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B747FF-95FF-B6DF-A5D6-71D28A822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845431"/>
              </p:ext>
            </p:extLst>
          </p:nvPr>
        </p:nvGraphicFramePr>
        <p:xfrm>
          <a:off x="1065429" y="1441840"/>
          <a:ext cx="8059304" cy="46795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029652">
                  <a:extLst>
                    <a:ext uri="{9D8B030D-6E8A-4147-A177-3AD203B41FA5}">
                      <a16:colId xmlns:a16="http://schemas.microsoft.com/office/drawing/2014/main" val="370508900"/>
                    </a:ext>
                  </a:extLst>
                </a:gridCol>
                <a:gridCol w="4029652">
                  <a:extLst>
                    <a:ext uri="{9D8B030D-6E8A-4147-A177-3AD203B41FA5}">
                      <a16:colId xmlns:a16="http://schemas.microsoft.com/office/drawing/2014/main" val="339275371"/>
                    </a:ext>
                  </a:extLst>
                </a:gridCol>
              </a:tblGrid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Feature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1081267119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Student_ID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Unique student identification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827505417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Name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Student name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3945781775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Gender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Student gender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36954326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Age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Student age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1497300151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Department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Academic department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893008251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Subject Marks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Marks obtained in subjects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2571846709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 marks obtained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581887985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Average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Average marks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3387098417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Grade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Performance grade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334306183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0845CE1-564A-1F5A-6B7F-744A8D7522CC}"/>
              </a:ext>
            </a:extLst>
          </p:cNvPr>
          <p:cNvSpPr txBox="1"/>
          <p:nvPr/>
        </p:nvSpPr>
        <p:spPr>
          <a:xfrm>
            <a:off x="1065429" y="6400800"/>
            <a:ext cx="782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Kaggle: </a:t>
            </a:r>
            <a:r>
              <a:rPr lang="en-IN" dirty="0">
                <a:hlinkClick r:id="rId6"/>
              </a:rPr>
              <a:t>Student Performance &amp; </a:t>
            </a:r>
            <a:r>
              <a:rPr lang="en-IN" dirty="0" err="1">
                <a:hlinkClick r:id="rId6"/>
              </a:rPr>
              <a:t>Behavior</a:t>
            </a:r>
            <a:r>
              <a:rPr lang="en-IN" dirty="0">
                <a:hlinkClick r:id="rId6"/>
              </a:rPr>
              <a:t>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038600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208760-3561-7301-DB2B-1E6813195DA1}"/>
              </a:ext>
            </a:extLst>
          </p:cNvPr>
          <p:cNvSpPr txBox="1"/>
          <p:nvPr/>
        </p:nvSpPr>
        <p:spPr>
          <a:xfrm>
            <a:off x="1453752" y="1334733"/>
            <a:ext cx="6928248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Hardware Requirements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Processor: Intel i3 or above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RAM: Minimum 4 GB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Internet connection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Software Requirements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</a:t>
            </a:r>
            <a:r>
              <a:rPr lang="en-IN" dirty="0" err="1"/>
              <a:t>Colab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Pandas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NumPy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Matplotlib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CSV Dataset</a:t>
            </a: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74141"/>
            <a:ext cx="7924801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Module 1: Dataset Loading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Import libraries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 dataset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Display records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Module 2: Data Exploration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Dataset shape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Column names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types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Missing values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Statistical summary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Module 3: Data Cleaning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 missing values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 duplicates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Handle incorrect records</a:t>
            </a:r>
          </a:p>
          <a:p>
            <a:pPr algn="just"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8057B3F-5DAB-DD41-AECE-F331B855040E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87F558-D85F-5AC0-F454-1F63CE0A07E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A168F22-39BB-5B7D-3CF6-D85FE785C6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7D54020-DB2F-8565-330C-84D2218CC66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E7A54A0-4068-FC5A-C8B6-7CD6DED089A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5F015672-148D-A104-60CF-C6A88B194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6C365DC-19B7-1764-968A-F9C87D5E495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B8E21A-43FD-410A-C1CF-49CF98882456}"/>
              </a:ext>
            </a:extLst>
          </p:cNvPr>
          <p:cNvSpPr txBox="1"/>
          <p:nvPr/>
        </p:nvSpPr>
        <p:spPr>
          <a:xfrm>
            <a:off x="990600" y="1031597"/>
            <a:ext cx="6858000" cy="6700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Module 4: Data Preprocessing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Remove duplicate records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Handle missing values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 outliers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Prepare numerical data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Module 5: Performance Analysis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 Average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Grade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Sort students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Filter records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 performance trends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Module 6: Visualization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Bar graph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Pie chart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 comparison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F2393-2376-2C2A-3EF4-761909AA8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72258"/>
            <a:ext cx="8513128" cy="33855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Module 7 – Report Generation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Generate: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Dataset summary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Cleaned dataset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Student statistics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Topper information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Grade distribution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Subject-wise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Performance insights</a:t>
            </a:r>
          </a:p>
          <a:p>
            <a:pPr>
              <a:lnSpc>
                <a:spcPct val="150000"/>
              </a:lnSpc>
            </a:pP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B5C3F-A311-2330-66EB-D4D0BEC6A4A5}"/>
              </a:ext>
            </a:extLst>
          </p:cNvPr>
          <p:cNvSpPr txBox="1"/>
          <p:nvPr/>
        </p:nvSpPr>
        <p:spPr>
          <a:xfrm>
            <a:off x="2514600" y="344615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METHODOLOGYMETHODOLOGY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D6A32F-DFE7-D2EE-76E5-6E79C572E19F}"/>
              </a:ext>
            </a:extLst>
          </p:cNvPr>
          <p:cNvSpPr txBox="1"/>
          <p:nvPr/>
        </p:nvSpPr>
        <p:spPr>
          <a:xfrm>
            <a:off x="2514600" y="344615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FFB4E3-6A0A-4FA6-F6B6-D40A8635121D}"/>
              </a:ext>
            </a:extLst>
          </p:cNvPr>
          <p:cNvSpPr txBox="1"/>
          <p:nvPr/>
        </p:nvSpPr>
        <p:spPr>
          <a:xfrm>
            <a:off x="2514600" y="344615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819400" y="0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6072-48CF-7A07-3283-0CB79F29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1D05E8A7-0BAB-CD52-0FC4-DBD8F083248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2B30C952-F60A-FB38-53A3-CC89BA0882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866CFA0-4F50-28F0-EFC2-86D038EB21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F09A4D8-A400-E0F8-0CA6-063B8B882E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8E97D79-7FA8-D140-E726-79CFA9A5B81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0F701E1-161B-537E-CE8F-F2E5197F4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6079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F12DBFE6-BE52-C24E-9E8E-C14765A305F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DD7FE-EE9E-DDD0-9A29-6CF6E44CC415}"/>
              </a:ext>
            </a:extLst>
          </p:cNvPr>
          <p:cNvSpPr txBox="1"/>
          <p:nvPr/>
        </p:nvSpPr>
        <p:spPr>
          <a:xfrm>
            <a:off x="1453752" y="1600200"/>
            <a:ext cx="7107198" cy="586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EXPECTED OUTPUTS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The system generates: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➢ Dataset summary</a:t>
            </a:r>
            <a:br>
              <a:rPr lang="en-IN" dirty="0"/>
            </a:br>
            <a:r>
              <a:rPr lang="en-IN" dirty="0"/>
              <a:t>➢ Missing-value report</a:t>
            </a:r>
            <a:br>
              <a:rPr lang="en-IN" dirty="0"/>
            </a:br>
            <a:r>
              <a:rPr lang="en-IN" dirty="0"/>
              <a:t>➢ Cleaned dataset</a:t>
            </a:r>
            <a:br>
              <a:rPr lang="en-IN" dirty="0"/>
            </a:br>
            <a:r>
              <a:rPr lang="en-IN" dirty="0"/>
              <a:t>➢ Student statistics</a:t>
            </a:r>
            <a:br>
              <a:rPr lang="en-IN" dirty="0"/>
            </a:br>
            <a:r>
              <a:rPr lang="en-IN" dirty="0"/>
              <a:t>➢ Sorted student records</a:t>
            </a:r>
            <a:br>
              <a:rPr lang="en-IN" dirty="0"/>
            </a:br>
            <a:r>
              <a:rPr lang="en-IN" dirty="0"/>
              <a:t>➢ Filtered student records</a:t>
            </a:r>
            <a:br>
              <a:rPr lang="en-IN" dirty="0"/>
            </a:br>
            <a:r>
              <a:rPr lang="en-IN" dirty="0"/>
              <a:t>➢ Average and Grade columns</a:t>
            </a:r>
            <a:br>
              <a:rPr lang="en-IN" dirty="0"/>
            </a:br>
            <a:r>
              <a:rPr lang="en-IN" dirty="0"/>
              <a:t>➢ Topper list</a:t>
            </a:r>
            <a:br>
              <a:rPr lang="en-IN" dirty="0"/>
            </a:br>
            <a:r>
              <a:rPr lang="en-IN" dirty="0"/>
              <a:t>➢ Bar graphs</a:t>
            </a:r>
            <a:br>
              <a:rPr lang="en-IN" dirty="0"/>
            </a:br>
            <a:r>
              <a:rPr lang="en-IN" dirty="0"/>
              <a:t>➢ Pie chart of grade distribution</a:t>
            </a:r>
            <a:br>
              <a:rPr lang="en-IN" dirty="0"/>
            </a:br>
            <a:r>
              <a:rPr lang="en-IN" dirty="0"/>
              <a:t>➢ Performance trends</a:t>
            </a:r>
            <a:br>
              <a:rPr lang="en-IN" dirty="0"/>
            </a:br>
            <a:r>
              <a:rPr lang="en-IN" dirty="0"/>
              <a:t>➢ Final analysis report</a:t>
            </a:r>
          </a:p>
        </p:txBody>
      </p:sp>
    </p:spTree>
    <p:extLst>
      <p:ext uri="{BB962C8B-B14F-4D97-AF65-F5344CB8AC3E}">
        <p14:creationId xmlns:p14="http://schemas.microsoft.com/office/powerpoint/2010/main" val="3942059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23B91-36A0-EE6D-3E29-F9E6F9709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188" y="1409149"/>
            <a:ext cx="8949055" cy="5701561"/>
          </a:xfrm>
        </p:spPr>
        <p:txBody>
          <a:bodyPr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dirty="0"/>
              <a:t>Student Dataset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Load Dataset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Data Exploration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Data Cleaning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Data Preprocessing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Sorting &amp; Filtering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Average &amp; Grade Calculation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Performance Analysis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Visualization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Report Generation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r>
                <a:rPr lang="en-US" sz="2800" dirty="0">
                  <a:solidFill>
                    <a:schemeClr val="bg1"/>
                  </a:solidFill>
                </a:rPr>
                <a:t>Project workflow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2120DB-9617-EBE2-7691-83614C09DCD7}"/>
              </a:ext>
            </a:extLst>
          </p:cNvPr>
          <p:cNvSpPr txBox="1"/>
          <p:nvPr/>
        </p:nvSpPr>
        <p:spPr>
          <a:xfrm>
            <a:off x="1453752" y="1441080"/>
            <a:ext cx="7080647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Student Performance Data Analysis System provides a complete data analysis process using Python.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performs: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collection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cleaning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preprocessing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Sorting and filtering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 analysis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visualization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helps identify student performance trends.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reduces manual analysis effort.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provides a foundation for future data analytics projects.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3293</TotalTime>
  <Words>627</Words>
  <Application>Microsoft Office PowerPoint</Application>
  <PresentationFormat>Custom</PresentationFormat>
  <Paragraphs>192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Palatino Linotype</vt:lpstr>
      <vt:lpstr>Times New Roman</vt:lpstr>
      <vt:lpstr>Office Theme</vt:lpstr>
      <vt:lpstr>Data Analysis Essentials Cornerstone Project First Review Team-11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METHODOLOGY</vt:lpstr>
      <vt:lpstr>PowerPoint Presentation</vt:lpstr>
      <vt:lpstr>EXPECTED OUTPUTS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Surya Vamsi Pasumarthi</cp:lastModifiedBy>
  <cp:revision>55</cp:revision>
  <cp:lastPrinted>2025-10-14T18:21:49Z</cp:lastPrinted>
  <dcterms:created xsi:type="dcterms:W3CDTF">2025-10-10T08:28:06Z</dcterms:created>
  <dcterms:modified xsi:type="dcterms:W3CDTF">2026-08-14T08:45:09Z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